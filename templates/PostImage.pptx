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445"/>
    <a:srgbClr val="5187B5"/>
    <a:srgbClr val="085758"/>
    <a:srgbClr val="009193"/>
    <a:srgbClr val="084C4D"/>
    <a:srgbClr val="00ABAE"/>
    <a:srgbClr val="80C8C9"/>
    <a:srgbClr val="74C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1"/>
    <p:restoredTop sz="94658"/>
  </p:normalViewPr>
  <p:slideViewPr>
    <p:cSldViewPr snapToGrid="0" showGuides="1">
      <p:cViewPr varScale="1">
        <p:scale>
          <a:sx n="109" d="100"/>
          <a:sy n="109" d="100"/>
        </p:scale>
        <p:origin x="18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F66DF-978C-E74D-8F55-69A4D74418C7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A628D-1434-784E-BDFA-8F07A1B29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2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CF80-9B5D-977B-D30F-AA1CE53B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A3478-7B74-6955-6B9B-B4552ACB0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FD9B3-4DBE-826A-6051-04F2FCC79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0DFC-B06C-FB19-3309-3702DD5A6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06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5034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6844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9435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9730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5117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448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4085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993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4813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856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1015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68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99496-28B4-4F48-9C90-51DE3F753911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0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000">
              <a:srgbClr val="009193"/>
            </a:gs>
            <a:gs pos="32000">
              <a:srgbClr val="80C8C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BB88-96A0-545D-16D5-8757EA9C7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369" y="2934634"/>
            <a:ext cx="10474448" cy="988732"/>
          </a:xfr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Building a Governed Agent Orchestration Platform </a:t>
            </a:r>
            <a:br>
              <a:rPr lang="en-US" sz="32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</a:br>
            <a:r>
              <a:rPr lang="en-US" sz="32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for Real Operational Work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35A3DC4-4208-E1AA-8A70-78BE013B9BD4}"/>
              </a:ext>
            </a:extLst>
          </p:cNvPr>
          <p:cNvSpPr txBox="1">
            <a:spLocks/>
          </p:cNvSpPr>
          <p:nvPr/>
        </p:nvSpPr>
        <p:spPr>
          <a:xfrm>
            <a:off x="1010369" y="5086748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85758"/>
                </a:solidFill>
                <a:latin typeface="Avenir Book" panose="02000503020000020003" pitchFamily="2" charset="0"/>
                <a:cs typeface="Al Nile" pitchFamily="2" charset="-78"/>
              </a:rPr>
              <a:t>Applied</a:t>
            </a:r>
            <a:r>
              <a:rPr lang="en-US" sz="2400" b="1" dirty="0">
                <a:solidFill>
                  <a:srgbClr val="085758"/>
                </a:solidFill>
                <a:latin typeface="Avenir Book" panose="02000503020000020003" pitchFamily="2" charset="0"/>
                <a:cs typeface="Al Nile" pitchFamily="2" charset="-78"/>
              </a:rPr>
              <a:t> AI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D7AED9D1-511F-C17D-A5B2-B7FE882E7A58}"/>
              </a:ext>
            </a:extLst>
          </p:cNvPr>
          <p:cNvSpPr txBox="1">
            <a:spLocks/>
          </p:cNvSpPr>
          <p:nvPr/>
        </p:nvSpPr>
        <p:spPr>
          <a:xfrm>
            <a:off x="1010370" y="1078081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84C4D"/>
                </a:solidFill>
                <a:latin typeface="Avenir Book" panose="02000503020000020003" pitchFamily="2" charset="0"/>
                <a:cs typeface="Al Nile" pitchFamily="2" charset="-78"/>
              </a:rPr>
              <a:t>\MARKROX.DEV</a:t>
            </a:r>
          </a:p>
        </p:txBody>
      </p:sp>
    </p:spTree>
    <p:extLst>
      <p:ext uri="{BB962C8B-B14F-4D97-AF65-F5344CB8AC3E}">
        <p14:creationId xmlns:p14="http://schemas.microsoft.com/office/powerpoint/2010/main" val="9181754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0560" y="0"/>
            <a:ext cx="3901440" cy="6858000"/>
          </a:xfrm>
          <a:prstGeom prst="rect">
            <a:avLst/>
          </a:prstGeom>
          <a:solidFill>
            <a:srgbClr val="1F47AC"/>
          </a:solidFill>
          <a:ln w="12700">
            <a:solidFill>
              <a:srgbClr val="1F47A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243840" cy="685800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46304" cy="426720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14400" y="999744"/>
            <a:ext cx="6827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667" dirty="0">
                <a:solidFill>
                  <a:srgbClr val="008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Applied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31264"/>
            <a:ext cx="7071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Intelligent Control Process</a:t>
            </a:r>
            <a:endParaRPr lang="en-US" sz="4533" dirty="0"/>
          </a:p>
        </p:txBody>
      </p:sp>
      <p:sp>
        <p:nvSpPr>
          <p:cNvPr id="7" name="Text 5"/>
          <p:cNvSpPr/>
          <p:nvPr/>
        </p:nvSpPr>
        <p:spPr>
          <a:xfrm>
            <a:off x="914400" y="4267200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Roxberry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8522208" y="1944622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Governed Delivery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8534400" y="2584702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Driven Execution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8887968" y="3134751"/>
            <a:ext cx="2682240" cy="0"/>
          </a:xfrm>
          <a:prstGeom prst="line">
            <a:avLst/>
          </a:prstGeom>
          <a:noFill/>
          <a:ln w="1016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522208" y="3261360"/>
            <a:ext cx="3413760" cy="914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Accountability</a:t>
            </a:r>
            <a:endParaRPr lang="en-US" sz="2667" dirty="0"/>
          </a:p>
        </p:txBody>
      </p:sp>
      <p:sp>
        <p:nvSpPr>
          <p:cNvPr id="12" name="Text 10"/>
          <p:cNvSpPr/>
          <p:nvPr/>
        </p:nvSpPr>
        <p:spPr>
          <a:xfrm>
            <a:off x="8534400" y="4108702"/>
            <a:ext cx="3413760" cy="548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Observability at Every Decision Point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0B1B3-A01F-ADF9-BE8B-FC9E7F6C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060F5B-7390-4E5C-8B67-17634707ECE8}"/>
              </a:ext>
            </a:extLst>
          </p:cNvPr>
          <p:cNvSpPr/>
          <p:nvPr/>
        </p:nvSpPr>
        <p:spPr>
          <a:xfrm>
            <a:off x="8290560" y="0"/>
            <a:ext cx="3901440" cy="6858000"/>
          </a:xfrm>
          <a:prstGeom prst="rect">
            <a:avLst/>
          </a:prstGeom>
          <a:solidFill>
            <a:srgbClr val="1F47AC"/>
          </a:solidFill>
          <a:ln w="12700">
            <a:solidFill>
              <a:srgbClr val="1F47A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43D4A1-6CF5-31B8-EC49-04D24DC184CB}"/>
              </a:ext>
            </a:extLst>
          </p:cNvPr>
          <p:cNvSpPr/>
          <p:nvPr/>
        </p:nvSpPr>
        <p:spPr>
          <a:xfrm>
            <a:off x="8046720" y="0"/>
            <a:ext cx="243840" cy="685800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7F5363-1F77-FD0B-E4B2-C38F92A44B52}"/>
              </a:ext>
            </a:extLst>
          </p:cNvPr>
          <p:cNvSpPr/>
          <p:nvPr/>
        </p:nvSpPr>
        <p:spPr>
          <a:xfrm>
            <a:off x="548640" y="914400"/>
            <a:ext cx="146304" cy="426720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441A9D-5CE9-CB75-B563-F426470E8722}"/>
              </a:ext>
            </a:extLst>
          </p:cNvPr>
          <p:cNvSpPr/>
          <p:nvPr/>
        </p:nvSpPr>
        <p:spPr>
          <a:xfrm>
            <a:off x="914400" y="999744"/>
            <a:ext cx="6827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667" dirty="0">
                <a:solidFill>
                  <a:srgbClr val="008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NAUTILUS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B1D7B0-1D3A-00AC-1C95-0A3A9BF0929C}"/>
              </a:ext>
            </a:extLst>
          </p:cNvPr>
          <p:cNvSpPr/>
          <p:nvPr/>
        </p:nvSpPr>
        <p:spPr>
          <a:xfrm>
            <a:off x="914400" y="1731264"/>
            <a:ext cx="7071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Intelligent Control Process</a:t>
            </a:r>
            <a:endParaRPr lang="en-US" sz="4533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4997D2-236E-6AE2-A9A5-79F512BB01BE}"/>
              </a:ext>
            </a:extLst>
          </p:cNvPr>
          <p:cNvSpPr/>
          <p:nvPr/>
        </p:nvSpPr>
        <p:spPr>
          <a:xfrm>
            <a:off x="914400" y="4267200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Presented to Oceans Casino Resort</a:t>
            </a:r>
            <a:endParaRPr lang="en-US" sz="17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C34AE6-B868-A876-5FAD-74C5B3F85A67}"/>
              </a:ext>
            </a:extLst>
          </p:cNvPr>
          <p:cNvSpPr/>
          <p:nvPr/>
        </p:nvSpPr>
        <p:spPr>
          <a:xfrm>
            <a:off x="8534400" y="14630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Governed Delivery</a:t>
            </a:r>
            <a:endParaRPr lang="en-US" sz="26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82C03E-6547-E2A7-79F5-43E6650A47F6}"/>
              </a:ext>
            </a:extLst>
          </p:cNvPr>
          <p:cNvSpPr/>
          <p:nvPr/>
        </p:nvSpPr>
        <p:spPr>
          <a:xfrm>
            <a:off x="8534400" y="201168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Driven Execution</a:t>
            </a:r>
            <a:endParaRPr lang="en-US" sz="1333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1D2333-65BA-8C91-1D75-AC76B22B1246}"/>
              </a:ext>
            </a:extLst>
          </p:cNvPr>
          <p:cNvSpPr/>
          <p:nvPr/>
        </p:nvSpPr>
        <p:spPr>
          <a:xfrm>
            <a:off x="8900160" y="2560320"/>
            <a:ext cx="2682240" cy="0"/>
          </a:xfrm>
          <a:prstGeom prst="line">
            <a:avLst/>
          </a:prstGeom>
          <a:noFill/>
          <a:ln w="1016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7E74EB9-E8F3-7280-2543-6157A18EA286}"/>
              </a:ext>
            </a:extLst>
          </p:cNvPr>
          <p:cNvSpPr/>
          <p:nvPr/>
        </p:nvSpPr>
        <p:spPr>
          <a:xfrm>
            <a:off x="8534400" y="274320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Accountability</a:t>
            </a:r>
            <a:endParaRPr lang="en-US" sz="266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C01ED1-0536-9F2D-8231-EA3F752DF3E0}"/>
              </a:ext>
            </a:extLst>
          </p:cNvPr>
          <p:cNvSpPr/>
          <p:nvPr/>
        </p:nvSpPr>
        <p:spPr>
          <a:xfrm>
            <a:off x="8534400" y="329184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Observability at Every Decision Point</a:t>
            </a:r>
            <a:endParaRPr lang="en-US" sz="1333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E4C259-97E8-E59B-77C9-A16931A1696B}"/>
              </a:ext>
            </a:extLst>
          </p:cNvPr>
          <p:cNvSpPr/>
          <p:nvPr/>
        </p:nvSpPr>
        <p:spPr>
          <a:xfrm>
            <a:off x="8534400" y="438912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2026</a:t>
            </a:r>
            <a:endParaRPr lang="en-US" sz="1467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C0DCCB9-D5C8-59D9-60DC-33FB160A0969}"/>
              </a:ext>
            </a:extLst>
          </p:cNvPr>
          <p:cNvSpPr/>
          <p:nvPr/>
        </p:nvSpPr>
        <p:spPr>
          <a:xfrm>
            <a:off x="219456" y="6437376"/>
            <a:ext cx="11753088" cy="0"/>
          </a:xfrm>
          <a:prstGeom prst="line">
            <a:avLst/>
          </a:prstGeom>
          <a:noFill/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7B92BF7-0DA6-A44C-FB53-FE5334F09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6486144"/>
            <a:ext cx="585216" cy="316992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2C8E44C8-2865-A838-F3A4-B8BAD376C6CE}"/>
              </a:ext>
            </a:extLst>
          </p:cNvPr>
          <p:cNvSpPr/>
          <p:nvPr/>
        </p:nvSpPr>
        <p:spPr>
          <a:xfrm>
            <a:off x="8290560" y="6498336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© Database Solutions, Inc.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971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4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CF5FF-E63E-1F88-A253-D5314E0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3FB5-A707-9A9D-A044-B40BBAED8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899" y="3000453"/>
            <a:ext cx="10194202" cy="857094"/>
          </a:xfr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IAC Prototype Extension System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167F8182-AAF4-E41D-BE17-36D63C7D4ABB}"/>
              </a:ext>
            </a:extLst>
          </p:cNvPr>
          <p:cNvSpPr txBox="1">
            <a:spLocks/>
          </p:cNvSpPr>
          <p:nvPr/>
        </p:nvSpPr>
        <p:spPr>
          <a:xfrm>
            <a:off x="1010369" y="5086748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rgbClr val="085758"/>
              </a:solidFill>
              <a:latin typeface="Avenir Book" panose="02000503020000020003" pitchFamily="2" charset="0"/>
              <a:cs typeface="Al Nile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6F9822-4126-103A-478F-D30F374A258A}"/>
              </a:ext>
            </a:extLst>
          </p:cNvPr>
          <p:cNvGrpSpPr/>
          <p:nvPr/>
        </p:nvGrpSpPr>
        <p:grpSpPr>
          <a:xfrm>
            <a:off x="998899" y="2045938"/>
            <a:ext cx="3552121" cy="679829"/>
            <a:chOff x="887655" y="969277"/>
            <a:chExt cx="3552121" cy="679829"/>
          </a:xfrm>
        </p:grpSpPr>
        <p:sp>
          <p:nvSpPr>
            <p:cNvPr id="39" name="Title 1">
              <a:extLst>
                <a:ext uri="{FF2B5EF4-FFF2-40B4-BE49-F238E27FC236}">
                  <a16:creationId xmlns:a16="http://schemas.microsoft.com/office/drawing/2014/main" id="{D7A297E3-295C-F1D1-B767-1513B9DCFA80}"/>
                </a:ext>
              </a:extLst>
            </p:cNvPr>
            <p:cNvSpPr txBox="1">
              <a:spLocks/>
            </p:cNvSpPr>
            <p:nvPr/>
          </p:nvSpPr>
          <p:spPr>
            <a:xfrm>
              <a:off x="1567484" y="1091424"/>
              <a:ext cx="2872292" cy="46699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8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OWASP </a:t>
              </a:r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HACTU8</a:t>
              </a:r>
            </a:p>
          </p:txBody>
        </p:sp>
        <p:pic>
          <p:nvPicPr>
            <p:cNvPr id="9" name="Picture 2" descr="IAC Logo">
              <a:extLst>
                <a:ext uri="{FF2B5EF4-FFF2-40B4-BE49-F238E27FC236}">
                  <a16:creationId xmlns:a16="http://schemas.microsoft.com/office/drawing/2014/main" id="{F9F11530-2DB4-3296-486A-ACDBA8753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655" y="969277"/>
              <a:ext cx="679829" cy="679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815564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7F4-8173-FA72-E9B3-806B3D04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BE90-11FA-3F78-8398-7D53CF980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323" cy="89449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CFA37B-0BC6-8A59-DD2A-4856B394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632136"/>
            <a:ext cx="5963273" cy="741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9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OWASP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 HACTU8</a:t>
            </a:r>
            <a:b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</a:b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Intelligence Assurance Center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IAC Logo">
            <a:extLst>
              <a:ext uri="{FF2B5EF4-FFF2-40B4-BE49-F238E27FC236}">
                <a16:creationId xmlns:a16="http://schemas.microsoft.com/office/drawing/2014/main" id="{008E86AE-E4F3-4C8B-A34F-774F3FF39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7413625"/>
            <a:ext cx="894491" cy="89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4127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2770</TotalTime>
  <Words>82</Words>
  <Application>Microsoft Macintosh PowerPoint</Application>
  <PresentationFormat>Widescreen</PresentationFormat>
  <Paragraphs>24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 Book</vt:lpstr>
      <vt:lpstr>Helvetica Neue</vt:lpstr>
      <vt:lpstr>system-ui</vt:lpstr>
      <vt:lpstr>Office Theme</vt:lpstr>
      <vt:lpstr>Building a Governed Agent Orchestration Platform  for Real Operational Work</vt:lpstr>
      <vt:lpstr>PowerPoint Presentation</vt:lpstr>
      <vt:lpstr>PowerPoint Presentation</vt:lpstr>
      <vt:lpstr>IAC Prototype Extension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Roxberry</dc:creator>
  <cp:lastModifiedBy>Roxberry, Mark</cp:lastModifiedBy>
  <cp:revision>7</cp:revision>
  <dcterms:created xsi:type="dcterms:W3CDTF">2025-11-29T21:43:37Z</dcterms:created>
  <dcterms:modified xsi:type="dcterms:W3CDTF">2026-08-27T19:43:04Z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2025-11-29T22:30:23Z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36676d95-5451-475d-abef-665021c32ff8</vt:lpwstr>
  </property>
  <property fmtid="{D5CDD505-2E9C-101B-9397-08002B2CF9AE}" pid="7" name="MSIP_Label_defa4170-0d19-0005-0004-bc88714345d2_ActionId">
    <vt:lpwstr>8e5e9355-260b-4d23-a565-ac65094889d7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